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ual-interface-3d-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5200">
                <a:solidFill>
                  <a:srgbClr val="FFFFFF"/>
                </a:solidFill>
                <a:latin typeface="Calibri"/>
              </a:defRPr>
            </a:pPr>
            <a:r>
              <a:t>Interface Management Tool</a:t>
            </a:r>
          </a:p>
          <a:p>
            <a:pPr>
              <a:defRPr sz="2300">
                <a:solidFill>
                  <a:srgbClr val="E9EFF7"/>
                </a:solidFill>
                <a:latin typeface="Calibri"/>
              </a:defRPr>
            </a:pPr>
            <a:r>
              <a:t>Visibility Deck | Offshore Wind Project Execution</a:t>
            </a:r>
          </a:p>
          <a:p>
            <a:pPr>
              <a:defRPr sz="1400">
                <a:solidFill>
                  <a:srgbClr val="DDE7F2"/>
                </a:solidFill>
                <a:latin typeface="Calibri"/>
              </a:defRPr>
            </a:pPr>
            <a:r>
              <a:t>Current product state | Real application screenshots |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926080"/>
            <a:ext cx="2377440" cy="73152"/>
          </a:xfrm>
          <a:prstGeom prst="rect">
            <a:avLst/>
          </a:prstGeom>
          <a:solidFill>
            <a:srgbClr val="116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01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3C"/>
                </a:solidFill>
                <a:latin typeface="Calibri"/>
              </a:defRPr>
            </a:pPr>
            <a:r>
              <a:t>Project-level control is visible immediately from the overview cockpit</a:t>
            </a:r>
          </a:p>
        </p:txBody>
      </p:sp>
      <p:pic>
        <p:nvPicPr>
          <p:cNvPr id="3" name="Picture 2" descr="projec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75" y="1097280"/>
            <a:ext cx="8705088" cy="5440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097280"/>
            <a:ext cx="11201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01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3C"/>
                </a:solidFill>
                <a:latin typeface="Calibri"/>
              </a:defRPr>
            </a:pPr>
            <a:r>
              <a:t>The tool provides broad operational coverage across the interface lifecycle</a:t>
            </a:r>
          </a:p>
        </p:txBody>
      </p:sp>
      <p:pic>
        <p:nvPicPr>
          <p:cNvPr id="3" name="Picture 2" descr="dashboard-projec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7" y="1097280"/>
            <a:ext cx="4169664" cy="2606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097280"/>
            <a:ext cx="5486400" cy="260604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gisters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1097280"/>
            <a:ext cx="4169664" cy="2606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097280"/>
            <a:ext cx="5486400" cy="260604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ports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7" y="3931920"/>
            <a:ext cx="4169664" cy="2606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3931920"/>
            <a:ext cx="5486400" cy="260604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tivity-fe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3931920"/>
            <a:ext cx="4169664" cy="26060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17920" y="3931920"/>
            <a:ext cx="5486400" cy="260604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01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3C"/>
                </a:solidFill>
                <a:latin typeface="Calibri"/>
              </a:defRPr>
            </a:pPr>
            <a:r>
              <a:t>Register governance and agreement structure anchor interface accountability</a:t>
            </a:r>
          </a:p>
        </p:txBody>
      </p:sp>
      <p:pic>
        <p:nvPicPr>
          <p:cNvPr id="3" name="Picture 2" descr="register-detail-agre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5486400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097280"/>
            <a:ext cx="5486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terface-points-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486400" cy="3429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097280"/>
            <a:ext cx="5486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01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3C"/>
                </a:solidFill>
                <a:latin typeface="Calibri"/>
              </a:defRPr>
            </a:pPr>
            <a:r>
              <a:t>Point-level workspace links obligations, deliverables, and technical clarification</a:t>
            </a:r>
          </a:p>
        </p:txBody>
      </p:sp>
      <p:pic>
        <p:nvPicPr>
          <p:cNvPr id="3" name="Picture 2" descr="point-detail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5486400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097280"/>
            <a:ext cx="5486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liverables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486400" cy="3429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097280"/>
            <a:ext cx="5486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01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3C"/>
                </a:solidFill>
                <a:latin typeface="Calibri"/>
              </a:defRPr>
            </a:pPr>
            <a:r>
              <a:t>TQU/DIR management supports both queue-level triage and record-level actions</a:t>
            </a:r>
          </a:p>
        </p:txBody>
      </p:sp>
      <p:pic>
        <p:nvPicPr>
          <p:cNvPr id="3" name="Picture 2" descr="querie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5486400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097280"/>
            <a:ext cx="5486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uery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486400" cy="3429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097280"/>
            <a:ext cx="5486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01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3C"/>
                </a:solidFill>
                <a:latin typeface="Calibri"/>
              </a:defRPr>
            </a:pPr>
            <a:r>
              <a:t>Deadline calendar surfaces due-now and upcoming obligations in one operational view</a:t>
            </a:r>
          </a:p>
        </p:txBody>
      </p:sp>
      <p:pic>
        <p:nvPicPr>
          <p:cNvPr id="3" name="Picture 2" descr="deadline-indic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75" y="1097280"/>
            <a:ext cx="8705088" cy="5440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097280"/>
            <a:ext cx="11201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01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3C"/>
                </a:solidFill>
                <a:latin typeface="Calibri"/>
              </a:defRPr>
            </a:pPr>
            <a:r>
              <a:t>Governance modules are available for cases, tracker, and MOC controls</a:t>
            </a:r>
          </a:p>
        </p:txBody>
      </p:sp>
      <p:pic>
        <p:nvPicPr>
          <p:cNvPr id="3" name="Picture 2" descr="cases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88907"/>
            <a:ext cx="3611880" cy="2257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097280"/>
            <a:ext cx="361188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cker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688907"/>
            <a:ext cx="3611880" cy="22574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97680" y="1097280"/>
            <a:ext cx="361188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688907"/>
            <a:ext cx="3611880" cy="22574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92440" y="1097280"/>
            <a:ext cx="361188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01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3C"/>
                </a:solidFill>
                <a:latin typeface="Calibri"/>
              </a:defRPr>
            </a:pPr>
            <a:r>
              <a:t>Matrix governance and interfaces workspace extend compliance-oriented operations</a:t>
            </a:r>
          </a:p>
        </p:txBody>
      </p:sp>
      <p:pic>
        <p:nvPicPr>
          <p:cNvPr id="3" name="Picture 2" descr="matrix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5486400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097280"/>
            <a:ext cx="5486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terfaces-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486400" cy="3429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097280"/>
            <a:ext cx="5486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01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3C"/>
                </a:solidFill>
                <a:latin typeface="Calibri"/>
              </a:defRPr>
            </a:pPr>
            <a:r>
              <a:t>Representative 3D mode enables focused topic mapping on key assets</a:t>
            </a:r>
          </a:p>
        </p:txBody>
      </p:sp>
      <p:pic>
        <p:nvPicPr>
          <p:cNvPr id="3" name="Picture 2" descr="visual-interface-3d-represen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75" y="1097280"/>
            <a:ext cx="8705088" cy="5440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097280"/>
            <a:ext cx="11201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01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3C"/>
                </a:solidFill>
                <a:latin typeface="Calibri"/>
              </a:defRPr>
            </a:pPr>
            <a:r>
              <a:t>Full layout 3D mode connects the farm context with interface point markers</a:t>
            </a:r>
          </a:p>
        </p:txBody>
      </p:sp>
      <p:pic>
        <p:nvPicPr>
          <p:cNvPr id="3" name="Picture 2" descr="visual-interface-3d-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75" y="1097280"/>
            <a:ext cx="8705088" cy="5440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097280"/>
            <a:ext cx="11201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01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3C"/>
                </a:solidFill>
                <a:latin typeface="Calibri"/>
              </a:defRPr>
            </a:pPr>
            <a:r>
              <a:t>Team settings and analytics keep ownership, package structure, and KPI visibility aligned</a:t>
            </a:r>
          </a:p>
        </p:txBody>
      </p:sp>
      <p:pic>
        <p:nvPicPr>
          <p:cNvPr id="3" name="Picture 2" descr="team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5486400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097280"/>
            <a:ext cx="5486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ports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486400" cy="3429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097280"/>
            <a:ext cx="5486400" cy="544068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01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3C"/>
                </a:solidFill>
                <a:latin typeface="Calibri"/>
              </a:defRPr>
            </a:pPr>
            <a:r>
              <a:t>Execution visibility is now live across interface governance, delivery, and 3D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201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876"/>
                </a:solidFill>
                <a:latin typeface="Calibri"/>
              </a:defRPr>
            </a:pPr>
            <a:r>
              <a:t>Positioning: practical risk-control layer between project teams and management oversight</a:t>
            </a:r>
          </a:p>
        </p:txBody>
      </p:sp>
      <p:pic>
        <p:nvPicPr>
          <p:cNvPr id="4" name="Picture 3" descr="projec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0187"/>
            <a:ext cx="7635240" cy="47720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234440"/>
            <a:ext cx="7635240" cy="530352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sual-interface-3d-represent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457325"/>
            <a:ext cx="3383280" cy="21145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234440"/>
            <a:ext cx="3383280" cy="256032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adline-indica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00525"/>
            <a:ext cx="3383280" cy="21145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21040" y="3977639"/>
            <a:ext cx="3383280" cy="2560320"/>
          </a:xfrm>
          <a:prstGeom prst="rect">
            <a:avLst/>
          </a:prstGeom>
          <a:noFill/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